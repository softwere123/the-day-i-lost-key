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iYB+9vcWYsUdx1b/raegs+Q+tf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44ABA64-517D-4B55-B1C8-032659BEFC22}">
  <a:tblStyle styleId="{D44ABA64-517D-4B55-B1C8-032659BEFC2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AECE6"/>
          </a:solidFill>
        </a:fill>
      </a:tcStyle>
    </a:wholeTbl>
    <a:band1H>
      <a:tcTxStyle/>
      <a:tcStyle>
        <a:fill>
          <a:solidFill>
            <a:srgbClr val="F5D8CA"/>
          </a:solidFill>
        </a:fill>
      </a:tcStyle>
    </a:band1H>
    <a:band2H>
      <a:tcTxStyle/>
    </a:band2H>
    <a:band1V>
      <a:tcTxStyle/>
      <a:tcStyle>
        <a:fill>
          <a:solidFill>
            <a:srgbClr val="F5D8C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585F6F25-51D2-4B07-A5BB-23C36F8B4AC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customschemas.google.com/relationships/presentationmetadata" Target="meta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55f969b43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55f969b43b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562afd8a5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562afd8a59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562afd8a5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562afd8a59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562afd8a5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562afd8a59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562afd8a59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562afd8a59_0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562afd8a5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562afd8a59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562afd8a59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562afd8a59_0_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562afd8a59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562afd8a59_0_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562afd8a59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562afd8a59_0_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562afd8a59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562afd8a59_0_1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562afd8a59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562afd8a59_0_1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562afd8a59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562afd8a59_0_1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562afd8a59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562afd8a59_0_1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562afd8a59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562afd8a59_0_1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showMasterSp="0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2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2"/>
          <p:cNvSpPr txBox="1"/>
          <p:nvPr>
            <p:ph idx="1" type="subTitle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" name="Google Shape;19;p1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cxnSp>
        <p:nvCxnSpPr>
          <p:cNvPr id="22" name="Google Shape;22;p12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showMasterSp="0" type="secHead">
  <p:cSld name="SECTION_HEADER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4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cxnSp>
        <p:nvCxnSpPr>
          <p:cNvPr id="37" name="Google Shape;37;p14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1" type="body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1" name="Google Shape;41;p15"/>
          <p:cNvSpPr txBox="1"/>
          <p:nvPr>
            <p:ph idx="2" type="body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16"/>
          <p:cNvSpPr txBox="1"/>
          <p:nvPr>
            <p:ph idx="2" type="body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3" type="body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16"/>
          <p:cNvSpPr txBox="1"/>
          <p:nvPr>
            <p:ph idx="4" type="body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7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showMasterSp="0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showMasterSp="0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9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9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9"/>
          <p:cNvSpPr txBox="1"/>
          <p:nvPr>
            <p:ph idx="1" type="body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showMasterSp="0" type="picTx">
  <p:cSld name="PICTURE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0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0"/>
          <p:cNvSpPr txBox="1"/>
          <p:nvPr>
            <p:ph type="title"/>
          </p:nvPr>
        </p:nvSpPr>
        <p:spPr>
          <a:xfrm>
            <a:off x="1097280" y="5074920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8" name="Google Shape;78;p20"/>
          <p:cNvPicPr preferRelativeResize="0"/>
          <p:nvPr>
            <p:ph idx="2" type="pic"/>
          </p:nvPr>
        </p:nvPicPr>
        <p:blipFill/>
        <p:spPr>
          <a:xfrm>
            <a:off x="15" y="0"/>
            <a:ext cx="12191985" cy="491507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79" name="Google Shape;79;p20"/>
          <p:cNvSpPr txBox="1"/>
          <p:nvPr>
            <p:ph idx="1" type="body"/>
          </p:nvPr>
        </p:nvSpPr>
        <p:spPr>
          <a:xfrm>
            <a:off x="1097280" y="5907023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0" name="Google Shape;80;p20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" type="body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6" name="Google Shape;86;p2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showMasterSp="0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2"/>
          <p:cNvSpPr txBox="1"/>
          <p:nvPr>
            <p:ph type="title"/>
          </p:nvPr>
        </p:nvSpPr>
        <p:spPr>
          <a:xfrm rot="5400000">
            <a:off x="7160640" y="1979039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>
            <p:ph idx="1" type="body"/>
          </p:nvPr>
        </p:nvSpPr>
        <p:spPr>
          <a:xfrm rot="5400000">
            <a:off x="1826639" y="-573661"/>
            <a:ext cx="5757422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4" name="Google Shape;94;p2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1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0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1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cxnSp>
        <p:nvCxnSpPr>
          <p:cNvPr id="13" name="Google Shape;13;p11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5.png"/><Relationship Id="rId6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Calibri"/>
              <a:buNone/>
            </a:pPr>
            <a:r>
              <a:rPr lang="ko-KR" sz="4400"/>
              <a:t>게임 시스템 설계</a:t>
            </a:r>
            <a:br>
              <a:rPr lang="ko-KR" sz="4400"/>
            </a:br>
            <a:r>
              <a:rPr lang="ko-KR" sz="4400"/>
              <a:t>The day I Lost Key</a:t>
            </a:r>
            <a:endParaRPr/>
          </a:p>
        </p:txBody>
      </p:sp>
      <p:sp>
        <p:nvSpPr>
          <p:cNvPr id="102" name="Google Shape;102;p1"/>
          <p:cNvSpPr txBox="1"/>
          <p:nvPr>
            <p:ph idx="1" type="subTitle"/>
          </p:nvPr>
        </p:nvSpPr>
        <p:spPr>
          <a:xfrm>
            <a:off x="1097276" y="457387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>
              <a:solidFill>
                <a:srgbClr val="F2F2F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ko-KR">
                <a:solidFill>
                  <a:srgbClr val="3F739B"/>
                </a:solidFill>
              </a:rPr>
              <a:t>2023137043</a:t>
            </a:r>
            <a:endParaRPr>
              <a:solidFill>
                <a:srgbClr val="3F739B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ko-KR">
                <a:solidFill>
                  <a:srgbClr val="3F739B"/>
                </a:solidFill>
              </a:rPr>
              <a:t>김민성</a:t>
            </a:r>
            <a:endParaRPr>
              <a:solidFill>
                <a:srgbClr val="3F739B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ko-KR"/>
              <a:t>게임 컨셉 개요</a:t>
            </a:r>
            <a:endParaRPr/>
          </a:p>
        </p:txBody>
      </p:sp>
      <p:sp>
        <p:nvSpPr>
          <p:cNvPr id="108" name="Google Shape;108;p2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ko-KR">
                <a:solidFill>
                  <a:schemeClr val="dk1"/>
                </a:solidFill>
              </a:rPr>
              <a:t>1. </a:t>
            </a:r>
            <a:r>
              <a:rPr lang="ko-KR">
                <a:solidFill>
                  <a:schemeClr val="dk1"/>
                </a:solidFill>
              </a:rPr>
              <a:t>워킹 시뮬레이션, 1인칭 내러티브 어드벤처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ko-KR">
                <a:solidFill>
                  <a:schemeClr val="dk1"/>
                </a:solidFill>
              </a:rPr>
              <a:t>2. </a:t>
            </a:r>
            <a:r>
              <a:rPr lang="ko-KR">
                <a:solidFill>
                  <a:schemeClr val="dk1"/>
                </a:solidFill>
              </a:rPr>
              <a:t>맵 이동에 제약이 없는 자유로운 플레이 스타일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ko-KR">
                <a:solidFill>
                  <a:schemeClr val="dk1"/>
                </a:solidFill>
              </a:rPr>
              <a:t>3. 타겟층 및 기획 의도</a:t>
            </a:r>
            <a:endParaRPr>
              <a:solidFill>
                <a:schemeClr val="dk1"/>
              </a:solidFill>
            </a:endParaRPr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</a:pPr>
            <a:r>
              <a:rPr lang="ko-KR">
                <a:solidFill>
                  <a:schemeClr val="dk1"/>
                </a:solidFill>
              </a:rPr>
              <a:t>난이도가 어렵지 않은 게임을 선호하는 플레이어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ko-KR">
                <a:solidFill>
                  <a:schemeClr val="dk1"/>
                </a:solidFill>
              </a:rPr>
              <a:t>게임을 플레이할때 스토리 감상을 중점적으로 하는 플레이어</a:t>
            </a:r>
            <a:endParaRPr>
              <a:solidFill>
                <a:schemeClr val="dk1"/>
              </a:solidFill>
            </a:endParaRPr>
          </a:p>
          <a:p>
            <a:pPr indent="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>
              <a:solidFill>
                <a:schemeClr val="accent1"/>
              </a:solidFill>
            </a:endParaRPr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accent1"/>
                </a:solidFill>
              </a:rPr>
              <a:t>게임 전반이 간단한 퍼즐로 구성되어 플레이어가 난이도로 인하여 느끼는 진입 장벽을 크게 낮추고 게임의 강점인 스토리에 몰입할 수 있게 의도 함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ko-KR"/>
              <a:t>기본 시스템 구성</a:t>
            </a:r>
            <a:endParaRPr/>
          </a:p>
        </p:txBody>
      </p:sp>
      <p:sp>
        <p:nvSpPr>
          <p:cNvPr id="114" name="Google Shape;114;p3"/>
          <p:cNvSpPr txBox="1"/>
          <p:nvPr>
            <p:ph idx="1" type="body"/>
          </p:nvPr>
        </p:nvSpPr>
        <p:spPr>
          <a:xfrm>
            <a:off x="1097280" y="1835859"/>
            <a:ext cx="10058400" cy="5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ko-KR"/>
              <a:t>핵심 시스템 요약표</a:t>
            </a:r>
            <a:endParaRPr>
              <a:solidFill>
                <a:schemeClr val="accent1"/>
              </a:solidFill>
            </a:endParaRPr>
          </a:p>
        </p:txBody>
      </p:sp>
      <p:graphicFrame>
        <p:nvGraphicFramePr>
          <p:cNvPr id="115" name="Google Shape;115;p3"/>
          <p:cNvGraphicFramePr/>
          <p:nvPr/>
        </p:nvGraphicFramePr>
        <p:xfrm>
          <a:off x="1178560" y="229698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{D44ABA64-517D-4B55-B1C8-032659BEFC22}</a:tableStyleId>
              </a:tblPr>
              <a:tblGrid>
                <a:gridCol w="2330150"/>
                <a:gridCol w="3760675"/>
                <a:gridCol w="2964300"/>
              </a:tblGrid>
              <a:tr h="61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cap="none" strike="noStrike"/>
                        <a:t>시스템 명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cap="none" strike="noStrike"/>
                        <a:t>핵심 역할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cap="none" strike="noStrike"/>
                        <a:t>연동 시스템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90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/>
                        <a:t>사진첩(메인 시스템)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>
                          <a:solidFill>
                            <a:schemeClr val="accent1"/>
                          </a:solidFill>
                        </a:rPr>
                        <a:t>플레이어에 퀘스트 제공 및 챕터 클리어 관리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인터랙션,기억 퍼즐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/>
                        <a:t>인터랙션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>
                          <a:solidFill>
                            <a:schemeClr val="accent1"/>
                          </a:solidFill>
                        </a:rPr>
                        <a:t>맵 내의 오브젝트 및 기억 퍼즐과 상호작용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기억 퍼즐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ko-KR" sz="1800"/>
                        <a:t>기억 퍼즐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ko-KR" sz="1800">
                          <a:solidFill>
                            <a:schemeClr val="accent1"/>
                          </a:solidFill>
                        </a:rPr>
                        <a:t>퀘스트 클리어를 위해 플레이어가 해결해야하는 간단한 퍼즐</a:t>
                      </a:r>
                      <a:endParaRPr sz="1800">
                        <a:solidFill>
                          <a:schemeClr val="accent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사진첩(메인 시스템)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ko-KR" sz="1800"/>
                        <a:t>다이얼로그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ko-KR" sz="1800">
                          <a:solidFill>
                            <a:schemeClr val="accent1"/>
                          </a:solidFill>
                        </a:rPr>
                        <a:t>주인공의 독백을 시각적으로 표현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/>
                        <a:t>인터랙션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ko-KR"/>
              <a:t>전체 플로우 구성</a:t>
            </a:r>
            <a:endParaRPr/>
          </a:p>
        </p:txBody>
      </p:sp>
      <p:sp>
        <p:nvSpPr>
          <p:cNvPr id="121" name="Google Shape;121;p4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ko-KR"/>
              <a:t>1. Flowchart 형식의 흐름도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122" name="Google Shape;122;p4" title="제목 없는 다이어그램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8351" y="2278675"/>
            <a:ext cx="8554126" cy="365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55f969b43b_0_2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ko-KR"/>
              <a:t>전체 플로우 구성</a:t>
            </a:r>
            <a:endParaRPr/>
          </a:p>
        </p:txBody>
      </p:sp>
      <p:sp>
        <p:nvSpPr>
          <p:cNvPr id="128" name="Google Shape;128;g355f969b43b_0_2"/>
          <p:cNvSpPr txBox="1"/>
          <p:nvPr>
            <p:ph idx="1" type="body"/>
          </p:nvPr>
        </p:nvSpPr>
        <p:spPr>
          <a:xfrm>
            <a:off x="1097280" y="1845734"/>
            <a:ext cx="100584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ko-KR">
                <a:solidFill>
                  <a:schemeClr val="accent1"/>
                </a:solidFill>
              </a:rPr>
              <a:t>플로우 설계의 의도</a:t>
            </a:r>
            <a:endParaRPr>
              <a:solidFill>
                <a:schemeClr val="accent1"/>
              </a:solidFill>
            </a:endParaRPr>
          </a:p>
          <a:p>
            <a:pPr indent="-114300" lvl="0" marL="91440" rtl="0" algn="l"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 "/>
            </a:pPr>
            <a:r>
              <a:rPr lang="ko-KR">
                <a:solidFill>
                  <a:schemeClr val="accent1"/>
                </a:solidFill>
              </a:rPr>
              <a:t>: 플레이어가 정해진 절차 없이 자유롭게 이동하며 오브젝트와 상호작용할 수 있게 하고</a:t>
            </a:r>
            <a:endParaRPr>
              <a:solidFill>
                <a:schemeClr val="accent1"/>
              </a:solidFill>
            </a:endParaRPr>
          </a:p>
          <a:p>
            <a:pPr indent="-114300" lvl="0" marL="91440" rtl="0" algn="l"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 "/>
            </a:pPr>
            <a:r>
              <a:rPr lang="ko-KR">
                <a:solidFill>
                  <a:schemeClr val="accent1"/>
                </a:solidFill>
              </a:rPr>
              <a:t>  그 과정에서 자연스럽게 스토리와 깊게 연관된 기억 퍼즐을 해결하며 스토리에</a:t>
            </a:r>
            <a:endParaRPr>
              <a:solidFill>
                <a:schemeClr val="accent1"/>
              </a:solidFill>
            </a:endParaRPr>
          </a:p>
          <a:p>
            <a:pPr indent="-114300" lvl="0" marL="91440" rtl="0" algn="l"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 "/>
            </a:pPr>
            <a:r>
              <a:rPr lang="ko-KR">
                <a:solidFill>
                  <a:schemeClr val="accent1"/>
                </a:solidFill>
              </a:rPr>
              <a:t>  더 몰입할 수 있게 의도 함.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accent1"/>
                </a:solidFill>
              </a:rPr>
              <a:t> </a:t>
            </a:r>
            <a:endParaRPr>
              <a:solidFill>
                <a:schemeClr val="accent1"/>
              </a:solidFill>
            </a:endParaRPr>
          </a:p>
          <a:p>
            <a:pPr indent="-114300" lvl="0" marL="91440" rtl="0" algn="l"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 "/>
            </a:pPr>
            <a:r>
              <a:t/>
            </a:r>
            <a:endParaRPr>
              <a:solidFill>
                <a:schemeClr val="accent1"/>
              </a:solidFill>
            </a:endParaRPr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ko-KR"/>
              <a:t>시스템 설계 – [</a:t>
            </a:r>
            <a:r>
              <a:rPr lang="ko-KR"/>
              <a:t>사진첩</a:t>
            </a:r>
            <a:r>
              <a:rPr lang="ko-KR"/>
              <a:t>]</a:t>
            </a:r>
            <a:endParaRPr/>
          </a:p>
        </p:txBody>
      </p:sp>
      <p:sp>
        <p:nvSpPr>
          <p:cNvPr id="134" name="Google Shape;134;p5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-KR"/>
              <a:t>  1. 플로우 차트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t/>
            </a:r>
            <a:endParaRPr/>
          </a:p>
        </p:txBody>
      </p:sp>
      <p:pic>
        <p:nvPicPr>
          <p:cNvPr id="135" name="Google Shape;135;p5" title="플로우차트1.drawi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687" y="2348675"/>
            <a:ext cx="8991575" cy="365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562afd8a59_0_7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ko-KR"/>
              <a:t>시스템 설계 – [사진첩]</a:t>
            </a:r>
            <a:endParaRPr/>
          </a:p>
        </p:txBody>
      </p:sp>
      <p:sp>
        <p:nvSpPr>
          <p:cNvPr id="141" name="Google Shape;141;g3562afd8a59_0_7"/>
          <p:cNvSpPr txBox="1"/>
          <p:nvPr>
            <p:ph idx="1" type="body"/>
          </p:nvPr>
        </p:nvSpPr>
        <p:spPr>
          <a:xfrm>
            <a:off x="1097280" y="1845734"/>
            <a:ext cx="100584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-KR"/>
              <a:t> 2. UI </a:t>
            </a:r>
            <a:r>
              <a:rPr lang="ko-KR"/>
              <a:t>목업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t/>
            </a:r>
            <a:endParaRPr/>
          </a:p>
        </p:txBody>
      </p:sp>
      <p:pic>
        <p:nvPicPr>
          <p:cNvPr id="142" name="Google Shape;142;g3562afd8a59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7450" y="1845725"/>
            <a:ext cx="5653726" cy="423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3562afd8a59_0_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7450" y="1845725"/>
            <a:ext cx="2136050" cy="213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g3562afd8a59_0_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0400" y="2548175"/>
            <a:ext cx="2702349" cy="213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g3562afd8a59_0_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5500" y="3656375"/>
            <a:ext cx="2232125" cy="176436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g3562afd8a59_0_7"/>
          <p:cNvSpPr txBox="1"/>
          <p:nvPr/>
        </p:nvSpPr>
        <p:spPr>
          <a:xfrm>
            <a:off x="3606400" y="3192525"/>
            <a:ext cx="12021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ko-KR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가족과 함께 요리</a:t>
            </a:r>
            <a:endParaRPr b="1" sz="8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3562afd8a59_0_7"/>
          <p:cNvSpPr txBox="1"/>
          <p:nvPr/>
        </p:nvSpPr>
        <p:spPr>
          <a:xfrm>
            <a:off x="6744375" y="3882500"/>
            <a:ext cx="12021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ko-KR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고등학교 </a:t>
            </a:r>
            <a:r>
              <a:rPr b="1" lang="ko-KR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졸업식</a:t>
            </a:r>
            <a:endParaRPr b="1" sz="8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3562afd8a59_0_7"/>
          <p:cNvSpPr txBox="1"/>
          <p:nvPr/>
        </p:nvSpPr>
        <p:spPr>
          <a:xfrm>
            <a:off x="8035150" y="2063875"/>
            <a:ext cx="12021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1"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3562afd8a59_0_7"/>
          <p:cNvSpPr txBox="1"/>
          <p:nvPr/>
        </p:nvSpPr>
        <p:spPr>
          <a:xfrm>
            <a:off x="4334875" y="4736475"/>
            <a:ext cx="12021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공원에서 강아지 산책</a:t>
            </a:r>
            <a:endParaRPr b="1" sz="8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562afd8a59_0_7"/>
          <p:cNvSpPr txBox="1"/>
          <p:nvPr/>
        </p:nvSpPr>
        <p:spPr>
          <a:xfrm>
            <a:off x="9297875" y="3145500"/>
            <a:ext cx="1681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기억 퍼즐을 클리어 시</a:t>
            </a:r>
            <a:endParaRPr sz="13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어두웠던 사진이</a:t>
            </a:r>
            <a:endParaRPr sz="13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페이드 인 되며</a:t>
            </a:r>
            <a:endParaRPr sz="13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나타남</a:t>
            </a:r>
            <a:r>
              <a:rPr lang="ko-KR" sz="13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g3562afd8a59_0_7"/>
          <p:cNvCxnSpPr/>
          <p:nvPr/>
        </p:nvCxnSpPr>
        <p:spPr>
          <a:xfrm>
            <a:off x="7843350" y="3404400"/>
            <a:ext cx="1281000" cy="4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" name="Google Shape;152;g3562afd8a59_0_7"/>
          <p:cNvCxnSpPr/>
          <p:nvPr/>
        </p:nvCxnSpPr>
        <p:spPr>
          <a:xfrm flipH="1">
            <a:off x="2512650" y="2916625"/>
            <a:ext cx="886800" cy="33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3" name="Google Shape;153;g3562afd8a59_0_7"/>
          <p:cNvSpPr txBox="1"/>
          <p:nvPr/>
        </p:nvSpPr>
        <p:spPr>
          <a:xfrm>
            <a:off x="1250025" y="3251725"/>
            <a:ext cx="1531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기억 퍼즐 클리어 전</a:t>
            </a:r>
            <a:endParaRPr sz="13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사진 칸이 어둡게</a:t>
            </a:r>
            <a:endParaRPr sz="13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나타남</a:t>
            </a:r>
            <a:r>
              <a:rPr lang="ko-KR" sz="13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" name="Google Shape;154;g3562afd8a59_0_7"/>
          <p:cNvCxnSpPr>
            <a:endCxn id="155" idx="3"/>
          </p:cNvCxnSpPr>
          <p:nvPr/>
        </p:nvCxnSpPr>
        <p:spPr>
          <a:xfrm flipH="1">
            <a:off x="3007450" y="4970675"/>
            <a:ext cx="1416900" cy="57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5" name="Google Shape;155;g3562afd8a59_0_7"/>
          <p:cNvSpPr txBox="1"/>
          <p:nvPr/>
        </p:nvSpPr>
        <p:spPr>
          <a:xfrm>
            <a:off x="1325650" y="5227925"/>
            <a:ext cx="16818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기억퍼즐로 이어지는</a:t>
            </a:r>
            <a:endParaRPr sz="13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오브젝트의 위치에 대한 단서를 제공</a:t>
            </a:r>
            <a:endParaRPr sz="13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562afd8a59_0_12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ko-KR"/>
              <a:t>시스템 설계 – [사진첩]</a:t>
            </a:r>
            <a:endParaRPr/>
          </a:p>
        </p:txBody>
      </p:sp>
      <p:sp>
        <p:nvSpPr>
          <p:cNvPr id="161" name="Google Shape;161;g3562afd8a59_0_12"/>
          <p:cNvSpPr txBox="1"/>
          <p:nvPr>
            <p:ph idx="1" type="body"/>
          </p:nvPr>
        </p:nvSpPr>
        <p:spPr>
          <a:xfrm>
            <a:off x="1097280" y="1845734"/>
            <a:ext cx="100584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-KR"/>
              <a:t> 3. </a:t>
            </a:r>
            <a:r>
              <a:rPr lang="ko-KR"/>
              <a:t>데이터 시트(예시)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t/>
            </a:r>
            <a:endParaRPr/>
          </a:p>
        </p:txBody>
      </p:sp>
      <p:graphicFrame>
        <p:nvGraphicFramePr>
          <p:cNvPr id="162" name="Google Shape;162;g3562afd8a59_0_12"/>
          <p:cNvGraphicFramePr/>
          <p:nvPr/>
        </p:nvGraphicFramePr>
        <p:xfrm>
          <a:off x="1376200" y="2471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{585F6F25-51D2-4B07-A5BB-23C36F8B4ACC}</a:tableStyleId>
              </a:tblPr>
              <a:tblGrid>
                <a:gridCol w="1594950"/>
                <a:gridCol w="1594950"/>
                <a:gridCol w="1594950"/>
                <a:gridCol w="1594950"/>
                <a:gridCol w="8918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/>
                        <a:t>puzzle</a:t>
                      </a:r>
                      <a:r>
                        <a:rPr b="1" lang="ko-KR"/>
                        <a:t>Name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/>
                        <a:t>chapterNum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/>
                        <a:t>triggerObject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/>
                        <a:t>puzzleP</a:t>
                      </a:r>
                      <a:r>
                        <a:rPr b="1" lang="ko-KR"/>
                        <a:t>lace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/>
                        <a:t>isClear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cooking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dishes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kitchen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organizing clothes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drawer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dressroom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71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watch the news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television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livingroom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listening to music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record player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study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false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clean the house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wet mop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restroom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car wash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car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garage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false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>
                          <a:solidFill>
                            <a:schemeClr val="dk1"/>
                          </a:solidFill>
                        </a:rPr>
                        <a:t>l</a:t>
                      </a:r>
                      <a:r>
                        <a:rPr lang="ko-KR">
                          <a:solidFill>
                            <a:schemeClr val="dk1"/>
                          </a:solidFill>
                        </a:rPr>
                        <a:t>eave the house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3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key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livingroom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false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562afd8a59_0_17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ko-KR"/>
              <a:t>시스템 설계 – [사진첩]</a:t>
            </a:r>
            <a:endParaRPr/>
          </a:p>
        </p:txBody>
      </p:sp>
      <p:sp>
        <p:nvSpPr>
          <p:cNvPr id="168" name="Google Shape;168;g3562afd8a59_0_17"/>
          <p:cNvSpPr txBox="1"/>
          <p:nvPr>
            <p:ph idx="1" type="body"/>
          </p:nvPr>
        </p:nvSpPr>
        <p:spPr>
          <a:xfrm>
            <a:off x="1097280" y="1845734"/>
            <a:ext cx="100584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-KR"/>
              <a:t> 4. </a:t>
            </a:r>
            <a:r>
              <a:rPr lang="ko-KR"/>
              <a:t>기획 의도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ko-KR"/>
              <a:t>1) </a:t>
            </a:r>
            <a:r>
              <a:rPr lang="ko-KR"/>
              <a:t>플레이어가 사진첩을 확인하며 자유로운 게임 플레이 내에서도 목표를 쉽게 찾을 수 있도록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ko-KR"/>
              <a:t> 의도 함.</a:t>
            </a:r>
            <a:endParaRPr/>
          </a:p>
          <a:p>
            <a:pPr indent="-1143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Char char=" "/>
            </a:pPr>
            <a:r>
              <a:rPr lang="ko-KR"/>
              <a:t>2) 사진첩이라는 요소와 퀘스트 클리어 시 사진이 나타나는 연출을 이용하여 주인공이 추억에서</a:t>
            </a:r>
            <a:endParaRPr/>
          </a:p>
          <a:p>
            <a:pPr indent="-1143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Char char=" "/>
            </a:pPr>
            <a:r>
              <a:rPr lang="ko-KR"/>
              <a:t>     느끼는 감정을 플레이어에게 효과적으로 전달할 수 있도록 기획 함.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ko-KR"/>
              <a:t>시스템 설계 – [</a:t>
            </a:r>
            <a:r>
              <a:rPr lang="ko-KR"/>
              <a:t>인터랙션</a:t>
            </a:r>
            <a:r>
              <a:rPr lang="ko-KR"/>
              <a:t>]</a:t>
            </a:r>
            <a:endParaRPr/>
          </a:p>
        </p:txBody>
      </p:sp>
      <p:sp>
        <p:nvSpPr>
          <p:cNvPr id="174" name="Google Shape;174;p6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-KR"/>
              <a:t>  1. 플로우 차트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-KR"/>
              <a:t> </a:t>
            </a:r>
            <a:endParaRPr/>
          </a:p>
        </p:txBody>
      </p:sp>
      <p:pic>
        <p:nvPicPr>
          <p:cNvPr id="175" name="Google Shape;175;p6" title="플로우차트1.drawio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6113" y="2566763"/>
            <a:ext cx="7534275" cy="258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562afd8a59_0_46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ko-KR"/>
              <a:t>시스템 설계 – [인터랙션]</a:t>
            </a:r>
            <a:endParaRPr/>
          </a:p>
        </p:txBody>
      </p:sp>
      <p:sp>
        <p:nvSpPr>
          <p:cNvPr id="181" name="Google Shape;181;g3562afd8a59_0_46"/>
          <p:cNvSpPr txBox="1"/>
          <p:nvPr>
            <p:ph idx="1" type="body"/>
          </p:nvPr>
        </p:nvSpPr>
        <p:spPr>
          <a:xfrm>
            <a:off x="1097280" y="1845734"/>
            <a:ext cx="100584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-KR"/>
              <a:t>  2. </a:t>
            </a:r>
            <a:r>
              <a:rPr lang="ko-KR"/>
              <a:t>디테일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-KR"/>
              <a:t> </a:t>
            </a:r>
            <a:r>
              <a:rPr lang="ko-KR"/>
              <a:t>  테두리 이펙트: 조준된 오브젝트의 테두리에 이펙트를 출력함으로써 플레이어가 어떤 물체와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-KR"/>
              <a:t>                             상호작용 하는지 직관적으로 알 수 있도록 기획 함.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-KR"/>
              <a:t>   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562afd8a59_0_52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ko-KR"/>
              <a:t>시스템 설계 – [인터랙션]</a:t>
            </a:r>
            <a:endParaRPr/>
          </a:p>
        </p:txBody>
      </p:sp>
      <p:sp>
        <p:nvSpPr>
          <p:cNvPr id="187" name="Google Shape;187;g3562afd8a59_0_52"/>
          <p:cNvSpPr txBox="1"/>
          <p:nvPr>
            <p:ph idx="1" type="body"/>
          </p:nvPr>
        </p:nvSpPr>
        <p:spPr>
          <a:xfrm>
            <a:off x="1097280" y="1845734"/>
            <a:ext cx="100584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-KR"/>
              <a:t>  3. UI </a:t>
            </a:r>
            <a:r>
              <a:rPr lang="ko-KR"/>
              <a:t>목업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-KR"/>
              <a:t>    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-KR"/>
              <a:t>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8" name="Google Shape;188;g3562afd8a59_0_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6525" y="2040900"/>
            <a:ext cx="5935906" cy="402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g3562afd8a59_0_52"/>
          <p:cNvPicPr preferRelativeResize="0"/>
          <p:nvPr/>
        </p:nvPicPr>
        <p:blipFill rotWithShape="1">
          <a:blip r:embed="rId4">
            <a:alphaModFix/>
          </a:blip>
          <a:srcRect b="2931" l="0" r="4452" t="0"/>
          <a:stretch/>
        </p:blipFill>
        <p:spPr>
          <a:xfrm>
            <a:off x="4307350" y="2520750"/>
            <a:ext cx="2450242" cy="306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g3562afd8a59_0_52"/>
          <p:cNvPicPr preferRelativeResize="0"/>
          <p:nvPr/>
        </p:nvPicPr>
        <p:blipFill rotWithShape="1">
          <a:blip r:embed="rId5">
            <a:alphaModFix/>
          </a:blip>
          <a:srcRect b="5319" l="0" r="4452" t="-2387"/>
          <a:stretch/>
        </p:blipFill>
        <p:spPr>
          <a:xfrm>
            <a:off x="4409300" y="2591713"/>
            <a:ext cx="2246351" cy="2808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g3562afd8a59_0_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4513" y="3623288"/>
            <a:ext cx="506800" cy="54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g3562afd8a59_0_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69363" y="3747588"/>
            <a:ext cx="277075" cy="29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g3562afd8a59_0_52"/>
          <p:cNvSpPr txBox="1"/>
          <p:nvPr/>
        </p:nvSpPr>
        <p:spPr>
          <a:xfrm>
            <a:off x="5389825" y="3217200"/>
            <a:ext cx="1064100" cy="4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노트</a:t>
            </a:r>
            <a:endParaRPr b="1"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4" name="Google Shape;194;g3562afd8a59_0_52"/>
          <p:cNvCxnSpPr/>
          <p:nvPr/>
        </p:nvCxnSpPr>
        <p:spPr>
          <a:xfrm flipH="1" rot="10800000">
            <a:off x="6059875" y="3162850"/>
            <a:ext cx="798000" cy="276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5" name="Google Shape;195;g3562afd8a59_0_52"/>
          <p:cNvCxnSpPr>
            <a:stCxn id="192" idx="3"/>
          </p:cNvCxnSpPr>
          <p:nvPr/>
        </p:nvCxnSpPr>
        <p:spPr>
          <a:xfrm>
            <a:off x="5846438" y="3897513"/>
            <a:ext cx="1445100" cy="605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6" name="Google Shape;196;g3562afd8a59_0_52"/>
          <p:cNvCxnSpPr/>
          <p:nvPr/>
        </p:nvCxnSpPr>
        <p:spPr>
          <a:xfrm rot="10800000">
            <a:off x="3724475" y="2364675"/>
            <a:ext cx="2187600" cy="414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7" name="Google Shape;197;g3562afd8a59_0_52"/>
          <p:cNvSpPr txBox="1"/>
          <p:nvPr/>
        </p:nvSpPr>
        <p:spPr>
          <a:xfrm>
            <a:off x="2276150" y="2226875"/>
            <a:ext cx="13203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오브젝트를 바라볼 떄 윤곽선이 빛남</a:t>
            </a:r>
            <a:endParaRPr sz="13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562afd8a59_0_52"/>
          <p:cNvSpPr txBox="1"/>
          <p:nvPr/>
        </p:nvSpPr>
        <p:spPr>
          <a:xfrm>
            <a:off x="1064175" y="3744300"/>
            <a:ext cx="5675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562afd8a59_0_52"/>
          <p:cNvSpPr txBox="1"/>
          <p:nvPr/>
        </p:nvSpPr>
        <p:spPr>
          <a:xfrm>
            <a:off x="7000525" y="2834400"/>
            <a:ext cx="13203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오브젝트 이름을</a:t>
            </a:r>
            <a:endParaRPr sz="13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출력하는 UI</a:t>
            </a:r>
            <a:endParaRPr sz="13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562afd8a59_0_52"/>
          <p:cNvSpPr txBox="1"/>
          <p:nvPr/>
        </p:nvSpPr>
        <p:spPr>
          <a:xfrm>
            <a:off x="7409125" y="4326875"/>
            <a:ext cx="1774200" cy="7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플레이어가 어떤 오브젝트를 가르키고 있는지 확인할 수 있는 UI 이며 오브젝트의 정보를 받아온다</a:t>
            </a:r>
            <a:endParaRPr sz="13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562afd8a59_0_67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ko-KR"/>
              <a:t>시스템 설계 – [인터랙션]</a:t>
            </a:r>
            <a:endParaRPr/>
          </a:p>
        </p:txBody>
      </p:sp>
      <p:sp>
        <p:nvSpPr>
          <p:cNvPr id="206" name="Google Shape;206;g3562afd8a59_0_67"/>
          <p:cNvSpPr txBox="1"/>
          <p:nvPr>
            <p:ph idx="1" type="body"/>
          </p:nvPr>
        </p:nvSpPr>
        <p:spPr>
          <a:xfrm>
            <a:off x="1097280" y="1845734"/>
            <a:ext cx="100584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-KR"/>
              <a:t>  4. </a:t>
            </a:r>
            <a:r>
              <a:rPr lang="ko-KR"/>
              <a:t>데이터 시트(예시)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-KR"/>
              <a:t>    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-KR"/>
              <a:t>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07" name="Google Shape;207;g3562afd8a59_0_67"/>
          <p:cNvGraphicFramePr/>
          <p:nvPr/>
        </p:nvGraphicFramePr>
        <p:xfrm>
          <a:off x="1238300" y="2274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{585F6F25-51D2-4B07-A5BB-23C36F8B4ACC}</a:tableStyleId>
              </a:tblPr>
              <a:tblGrid>
                <a:gridCol w="1208075"/>
                <a:gridCol w="1129275"/>
                <a:gridCol w="1493825"/>
                <a:gridCol w="3432200"/>
                <a:gridCol w="2111875"/>
              </a:tblGrid>
              <a:tr h="45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/>
                        <a:t>object</a:t>
                      </a:r>
                      <a:r>
                        <a:rPr b="1" lang="ko-KR"/>
                        <a:t>Name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/>
                        <a:t>canInteract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/>
                        <a:t>isPuzzleObject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/>
                        <a:t>text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/>
                        <a:t>puzzleName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table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false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false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note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false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false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71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television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false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뉴스를 볼 시간이다.채널을 이동해보자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bed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false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아내와 함께 잠에 들었던 침대이다.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지금은 혼자 쓰고 있지만…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car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차가 많이 더러워졌네. 빠른 세차가 필요해 보인다.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car wash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family photo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false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가족과 함께 찍은 사진이다.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-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>
                          <a:solidFill>
                            <a:schemeClr val="dk1"/>
                          </a:solidFill>
                        </a:rPr>
                        <a:t>record player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true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true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오랜만에 아내가 좋아하던 음악이 듣고싶다.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그런데 어떤 레코드 판이였지?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listening to music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562afd8a59_0_79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ko-KR"/>
              <a:t>시스템 설계 – [인터랙션]</a:t>
            </a:r>
            <a:endParaRPr/>
          </a:p>
        </p:txBody>
      </p:sp>
      <p:sp>
        <p:nvSpPr>
          <p:cNvPr id="213" name="Google Shape;213;g3562afd8a59_0_79"/>
          <p:cNvSpPr txBox="1"/>
          <p:nvPr>
            <p:ph idx="1" type="body"/>
          </p:nvPr>
        </p:nvSpPr>
        <p:spPr>
          <a:xfrm>
            <a:off x="1097280" y="1845734"/>
            <a:ext cx="100584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-KR"/>
              <a:t>  5. </a:t>
            </a:r>
            <a:r>
              <a:rPr lang="ko-KR"/>
              <a:t>기획 의도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-KR"/>
              <a:t>   </a:t>
            </a:r>
            <a:r>
              <a:rPr lang="ko-KR"/>
              <a:t>게임의 스토리에 몰입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-KR"/>
              <a:t>   : 플레이어가 자유롭게 오브젝트와 상호작용 하며 자연스럽게 스토리에 몰입할 수 있도록 의도함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-KR"/>
              <a:t>    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-KR"/>
              <a:t>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ko-KR"/>
              <a:t>시스템 설계 – [</a:t>
            </a:r>
            <a:r>
              <a:rPr lang="ko-KR"/>
              <a:t>기억 퍼즐</a:t>
            </a:r>
            <a:r>
              <a:rPr lang="ko-KR"/>
              <a:t>]</a:t>
            </a:r>
            <a:endParaRPr/>
          </a:p>
        </p:txBody>
      </p:sp>
      <p:sp>
        <p:nvSpPr>
          <p:cNvPr id="219" name="Google Shape;219;p7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-KR"/>
              <a:t>  1. 플로우 차트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</a:rPr>
              <a:t>   </a:t>
            </a:r>
            <a:endParaRPr/>
          </a:p>
        </p:txBody>
      </p:sp>
      <p:pic>
        <p:nvPicPr>
          <p:cNvPr id="220" name="Google Shape;220;p7" title="플로우차트1.drawio 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7913" y="2547288"/>
            <a:ext cx="7058025" cy="286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562afd8a59_0_93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ko-KR"/>
              <a:t>시스템 설계 – [기억 퍼즐]</a:t>
            </a:r>
            <a:endParaRPr/>
          </a:p>
        </p:txBody>
      </p:sp>
      <p:sp>
        <p:nvSpPr>
          <p:cNvPr id="226" name="Google Shape;226;g3562afd8a59_0_93"/>
          <p:cNvSpPr txBox="1"/>
          <p:nvPr>
            <p:ph idx="1" type="body"/>
          </p:nvPr>
        </p:nvSpPr>
        <p:spPr>
          <a:xfrm>
            <a:off x="1097280" y="1845734"/>
            <a:ext cx="100584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-KR"/>
              <a:t>  2. </a:t>
            </a:r>
            <a:r>
              <a:rPr lang="ko-KR"/>
              <a:t>디테일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-KR"/>
              <a:t>       동적인 플레이: </a:t>
            </a:r>
            <a:r>
              <a:rPr lang="ko-KR"/>
              <a:t>퍼즐은 플레이어가 움직이면서 해결할 수 있게 제작 예정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-KR"/>
              <a:t>       다양한  퍼즐: 퍼즐마다 형식이 겹치지 않고 상호작용하는 오브젝트와 연관성 있는 형식으로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-KR"/>
              <a:t>                                제작 예정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562afd8a59_0_104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ko-KR"/>
              <a:t>시스템 설계 – [기억 퍼즐]</a:t>
            </a:r>
            <a:endParaRPr/>
          </a:p>
        </p:txBody>
      </p:sp>
      <p:sp>
        <p:nvSpPr>
          <p:cNvPr id="232" name="Google Shape;232;g3562afd8a59_0_104"/>
          <p:cNvSpPr txBox="1"/>
          <p:nvPr>
            <p:ph idx="1" type="body"/>
          </p:nvPr>
        </p:nvSpPr>
        <p:spPr>
          <a:xfrm>
            <a:off x="1097280" y="1845734"/>
            <a:ext cx="100584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-KR"/>
              <a:t>  4. </a:t>
            </a:r>
            <a:r>
              <a:rPr lang="ko-KR"/>
              <a:t>데이터 시트(예시)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</a:rPr>
              <a:t>   </a:t>
            </a:r>
            <a:endParaRPr/>
          </a:p>
        </p:txBody>
      </p:sp>
      <p:graphicFrame>
        <p:nvGraphicFramePr>
          <p:cNvPr id="233" name="Google Shape;233;g3562afd8a59_0_104"/>
          <p:cNvGraphicFramePr/>
          <p:nvPr/>
        </p:nvGraphicFramePr>
        <p:xfrm>
          <a:off x="952500" y="247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{585F6F25-51D2-4B07-A5BB-23C36F8B4ACC}</a:tableStyleId>
              </a:tblPr>
              <a:tblGrid>
                <a:gridCol w="1714500"/>
                <a:gridCol w="1714500"/>
                <a:gridCol w="1714500"/>
                <a:gridCol w="1714500"/>
                <a:gridCol w="1714500"/>
                <a:gridCol w="1714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index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eventName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isActivated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correctAnswer(string)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playerAnswer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isCleared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001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record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002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umbrella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blue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blue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003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toast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31254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31245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false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004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key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false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key1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null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false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8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ko-KR"/>
              <a:t>시스템 설계 – [</a:t>
            </a:r>
            <a:r>
              <a:rPr lang="ko-KR"/>
              <a:t>다이얼로그</a:t>
            </a:r>
            <a:r>
              <a:rPr lang="ko-KR"/>
              <a:t>]</a:t>
            </a:r>
            <a:endParaRPr/>
          </a:p>
        </p:txBody>
      </p:sp>
      <p:sp>
        <p:nvSpPr>
          <p:cNvPr id="239" name="Google Shape;239;p8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ko-KR"/>
              <a:t>1. 플로우 차트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t/>
            </a:r>
            <a:endParaRPr/>
          </a:p>
        </p:txBody>
      </p:sp>
      <p:pic>
        <p:nvPicPr>
          <p:cNvPr id="240" name="Google Shape;240;p8" title="플로우차트1.drawio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8963" y="2266463"/>
            <a:ext cx="5915025" cy="372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562afd8a59_0_110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ko-KR"/>
              <a:t>시스템 설계 – [다이얼로그]</a:t>
            </a:r>
            <a:endParaRPr/>
          </a:p>
        </p:txBody>
      </p:sp>
      <p:sp>
        <p:nvSpPr>
          <p:cNvPr id="246" name="Google Shape;246;g3562afd8a59_0_110"/>
          <p:cNvSpPr txBox="1"/>
          <p:nvPr>
            <p:ph idx="1" type="body"/>
          </p:nvPr>
        </p:nvSpPr>
        <p:spPr>
          <a:xfrm>
            <a:off x="1097280" y="1845734"/>
            <a:ext cx="100584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ko-KR"/>
              <a:t>2. </a:t>
            </a:r>
            <a:r>
              <a:rPr lang="ko-KR"/>
              <a:t>디테일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ko-KR"/>
              <a:t> </a:t>
            </a:r>
            <a:r>
              <a:rPr lang="ko-KR"/>
              <a:t>오브젝트 마다 지정된 텍스트</a:t>
            </a:r>
            <a:endParaRPr/>
          </a:p>
          <a:p>
            <a:pPr indent="-1143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Char char=" "/>
            </a:pPr>
            <a:r>
              <a:rPr lang="ko-KR"/>
              <a:t>: 플레이어가 상호작용 가능한 오브젝트는 모두 해당하는 다이얼로그를 출력한다.</a:t>
            </a:r>
            <a:endParaRPr/>
          </a:p>
          <a:p>
            <a:pPr indent="-1143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Char char=" "/>
            </a:pPr>
            <a:r>
              <a:rPr lang="ko-KR"/>
              <a:t>기억 퍼즐과 관련된 오브젝트의 다이얼로그</a:t>
            </a:r>
            <a:endParaRPr/>
          </a:p>
          <a:p>
            <a:pPr indent="-1143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Char char=" "/>
            </a:pPr>
            <a:r>
              <a:rPr lang="ko-KR"/>
              <a:t>: 기억 퍼즐과 이어진 오브젝트는 퍼즐 풀이의 결과에 따라 출력되는 텍스트가 상이하다.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562afd8a59_0_116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ko-KR"/>
              <a:t>시스템 설계 – [다이얼로그]</a:t>
            </a:r>
            <a:endParaRPr/>
          </a:p>
        </p:txBody>
      </p:sp>
      <p:sp>
        <p:nvSpPr>
          <p:cNvPr id="252" name="Google Shape;252;g3562afd8a59_0_116"/>
          <p:cNvSpPr txBox="1"/>
          <p:nvPr>
            <p:ph idx="1" type="body"/>
          </p:nvPr>
        </p:nvSpPr>
        <p:spPr>
          <a:xfrm>
            <a:off x="1097280" y="1845734"/>
            <a:ext cx="100584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ko-KR"/>
              <a:t>3. UI </a:t>
            </a:r>
            <a:r>
              <a:rPr lang="ko-KR"/>
              <a:t>목업(UI 퍼즐,기본 오브젝트 분리)</a:t>
            </a:r>
            <a:endParaRPr/>
          </a:p>
          <a:p>
            <a:pPr indent="-1143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Char char=" "/>
            </a:pPr>
            <a:r>
              <a:t/>
            </a:r>
            <a:endParaRPr/>
          </a:p>
        </p:txBody>
      </p:sp>
      <p:sp>
        <p:nvSpPr>
          <p:cNvPr id="253" name="Google Shape;253;g3562afd8a59_0_116"/>
          <p:cNvSpPr/>
          <p:nvPr/>
        </p:nvSpPr>
        <p:spPr>
          <a:xfrm>
            <a:off x="1645525" y="4266550"/>
            <a:ext cx="9075000" cy="15666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st="19050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g3562afd8a59_0_116"/>
          <p:cNvSpPr txBox="1"/>
          <p:nvPr/>
        </p:nvSpPr>
        <p:spPr>
          <a:xfrm>
            <a:off x="1882000" y="4266550"/>
            <a:ext cx="13695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플레이어</a:t>
            </a:r>
            <a:endParaRPr sz="15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g3562afd8a59_0_116"/>
          <p:cNvSpPr/>
          <p:nvPr/>
        </p:nvSpPr>
        <p:spPr>
          <a:xfrm>
            <a:off x="2059375" y="4680400"/>
            <a:ext cx="8375400" cy="936000"/>
          </a:xfrm>
          <a:prstGeom prst="rect">
            <a:avLst/>
          </a:prstGeom>
          <a:solidFill>
            <a:srgbClr val="66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6" name="Google Shape;256;g3562afd8a59_0_116"/>
          <p:cNvCxnSpPr/>
          <p:nvPr/>
        </p:nvCxnSpPr>
        <p:spPr>
          <a:xfrm flipH="1" rot="10800000">
            <a:off x="7212750" y="3823400"/>
            <a:ext cx="1221900" cy="1054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7" name="Google Shape;257;g3562afd8a59_0_116"/>
          <p:cNvCxnSpPr/>
          <p:nvPr/>
        </p:nvCxnSpPr>
        <p:spPr>
          <a:xfrm flipH="1" rot="10800000">
            <a:off x="2349750" y="3276200"/>
            <a:ext cx="1221900" cy="1054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8" name="Google Shape;258;g3562afd8a59_0_116"/>
          <p:cNvSpPr txBox="1"/>
          <p:nvPr/>
        </p:nvSpPr>
        <p:spPr>
          <a:xfrm>
            <a:off x="3084100" y="2690000"/>
            <a:ext cx="19509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플레이어 이름</a:t>
            </a: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g3562afd8a59_0_116"/>
          <p:cNvSpPr txBox="1"/>
          <p:nvPr/>
        </p:nvSpPr>
        <p:spPr>
          <a:xfrm>
            <a:off x="8527800" y="3435475"/>
            <a:ext cx="19509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출력할 텍스트</a:t>
            </a: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562afd8a59_0_121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ko-KR"/>
              <a:t>시스템 설계 – [다이얼로그]</a:t>
            </a:r>
            <a:endParaRPr/>
          </a:p>
        </p:txBody>
      </p:sp>
      <p:sp>
        <p:nvSpPr>
          <p:cNvPr id="265" name="Google Shape;265;g3562afd8a59_0_121"/>
          <p:cNvSpPr txBox="1"/>
          <p:nvPr>
            <p:ph idx="1" type="body"/>
          </p:nvPr>
        </p:nvSpPr>
        <p:spPr>
          <a:xfrm>
            <a:off x="1097280" y="1835884"/>
            <a:ext cx="100584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ko-KR"/>
              <a:t>4. </a:t>
            </a:r>
            <a:r>
              <a:rPr lang="ko-KR"/>
              <a:t>데이터 시트(예시)</a:t>
            </a:r>
            <a:endParaRPr/>
          </a:p>
          <a:p>
            <a:pPr indent="-1143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Char char=" "/>
            </a:pPr>
            <a:r>
              <a:t/>
            </a:r>
            <a:endParaRPr/>
          </a:p>
        </p:txBody>
      </p:sp>
      <p:graphicFrame>
        <p:nvGraphicFramePr>
          <p:cNvPr id="266" name="Google Shape;266;g3562afd8a59_0_121"/>
          <p:cNvGraphicFramePr/>
          <p:nvPr/>
        </p:nvGraphicFramePr>
        <p:xfrm>
          <a:off x="1169275" y="2302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{585F6F25-51D2-4B07-A5BB-23C36F8B4ACC}</a:tableStyleId>
              </a:tblPr>
              <a:tblGrid>
                <a:gridCol w="1186725"/>
                <a:gridCol w="1186725"/>
                <a:gridCol w="645650"/>
                <a:gridCol w="804775"/>
                <a:gridCol w="1822675"/>
                <a:gridCol w="1546750"/>
                <a:gridCol w="15664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objectName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puzzleName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isPuzzleObject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isSolved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interactionText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solveText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wrongText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drawer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옷 계절 별로 정리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false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서랍장 안이 난장판이네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정리가 필요하겠어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드디어 정리가 끝났다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이 옷은 여기에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넣으면 안되지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calender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false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아내가 병원에 간지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벌써 이렇게 지났네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tool box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false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우리집의 많은 가구를 고쳐준 고마운 친구다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record player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맞는 레코드판 찾기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solidFill>
                            <a:schemeClr val="dk1"/>
                          </a:solidFill>
                        </a:rPr>
                        <a:t>오랜만에 아내가 좋아하던 음악이 듣고싶다.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>
                          <a:solidFill>
                            <a:schemeClr val="dk1"/>
                          </a:solidFill>
                        </a:rPr>
                        <a:t>그런데 어떤 레코드 판이였지?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맞아 이 노래였지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아니야, 이 노래는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아닌거 같아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562afd8a59_0_134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ko-KR"/>
              <a:t>시스템 설계 – [다이얼로그]</a:t>
            </a:r>
            <a:endParaRPr/>
          </a:p>
        </p:txBody>
      </p:sp>
      <p:sp>
        <p:nvSpPr>
          <p:cNvPr id="272" name="Google Shape;272;g3562afd8a59_0_134"/>
          <p:cNvSpPr txBox="1"/>
          <p:nvPr>
            <p:ph idx="1" type="body"/>
          </p:nvPr>
        </p:nvSpPr>
        <p:spPr>
          <a:xfrm>
            <a:off x="1097280" y="1835884"/>
            <a:ext cx="100584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ko-KR"/>
              <a:t>5. </a:t>
            </a:r>
            <a:r>
              <a:rPr lang="ko-KR"/>
              <a:t>기획의도</a:t>
            </a:r>
            <a:endParaRPr/>
          </a:p>
          <a:p>
            <a:pPr indent="-1143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ko-KR"/>
              <a:t>환경에 </a:t>
            </a:r>
            <a:r>
              <a:rPr lang="ko-KR"/>
              <a:t>몰입</a:t>
            </a:r>
            <a:endParaRPr/>
          </a:p>
          <a:p>
            <a:pPr indent="-1143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ko-KR"/>
              <a:t>: 플레이어가 플레이를 진행하며 상호작용 할 수 있는 오브젝트마다 각각 얽힌 스토리를 텍스트로</a:t>
            </a:r>
            <a:endParaRPr/>
          </a:p>
          <a:p>
            <a:pPr indent="-1143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ko-KR"/>
              <a:t>  표현하여 더욱 몰입 할 수 있게 해준다.</a:t>
            </a:r>
            <a:endParaRPr/>
          </a:p>
          <a:p>
            <a:pPr indent="-1143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Char char=" 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추억">
  <a:themeElements>
    <a:clrScheme name="추억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2016-02-15T14:36:50Z</dcterms:created>
  <dc:creator>Hezin Lila</dc:creator>
</cp:coreProperties>
</file>